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1" r:id="rId1"/>
  </p:sldMasterIdLst>
  <p:sldIdLst>
    <p:sldId id="256" r:id="rId2"/>
    <p:sldId id="257" r:id="rId3"/>
    <p:sldId id="258" r:id="rId4"/>
    <p:sldId id="259" r:id="rId5"/>
    <p:sldId id="260" r:id="rId6"/>
    <p:sldId id="263" r:id="rId7"/>
    <p:sldId id="261" r:id="rId8"/>
    <p:sldId id="262"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DDB05306-D8BF-4FA5-A93A-0EAB4C301411}" type="datetimeFigureOut">
              <a:rPr lang="en-IN" smtClean="0"/>
              <a:t>06-12-2025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9B469DC1-BE9C-49F2-A7EC-6E8F9D1CEA07}"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2309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5306-D8BF-4FA5-A93A-0EAB4C301411}" type="datetimeFigureOut">
              <a:rPr lang="en-IN" smtClean="0"/>
              <a:t>06-12-2025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469DC1-BE9C-49F2-A7EC-6E8F9D1CEA07}" type="slidenum">
              <a:rPr lang="en-IN" smtClean="0"/>
              <a:t>‹#›</a:t>
            </a:fld>
            <a:endParaRPr lang="en-IN"/>
          </a:p>
        </p:txBody>
      </p:sp>
    </p:spTree>
    <p:extLst>
      <p:ext uri="{BB962C8B-B14F-4D97-AF65-F5344CB8AC3E}">
        <p14:creationId xmlns:p14="http://schemas.microsoft.com/office/powerpoint/2010/main" val="1257690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B05306-D8BF-4FA5-A93A-0EAB4C301411}" type="datetimeFigureOut">
              <a:rPr lang="en-IN" smtClean="0"/>
              <a:t>06-12-2025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469DC1-BE9C-49F2-A7EC-6E8F9D1CEA07}"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7516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B05306-D8BF-4FA5-A93A-0EAB4C301411}" type="datetimeFigureOut">
              <a:rPr lang="en-IN" smtClean="0"/>
              <a:t>06-12-2025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469DC1-BE9C-49F2-A7EC-6E8F9D1CEA07}" type="slidenum">
              <a:rPr lang="en-IN" smtClean="0"/>
              <a:t>‹#›</a:t>
            </a:fld>
            <a:endParaRPr lang="en-IN"/>
          </a:p>
        </p:txBody>
      </p:sp>
    </p:spTree>
    <p:extLst>
      <p:ext uri="{BB962C8B-B14F-4D97-AF65-F5344CB8AC3E}">
        <p14:creationId xmlns:p14="http://schemas.microsoft.com/office/powerpoint/2010/main" val="2714091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B05306-D8BF-4FA5-A93A-0EAB4C301411}" type="datetimeFigureOut">
              <a:rPr lang="en-IN" smtClean="0"/>
              <a:t>06-12-2025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469DC1-BE9C-49F2-A7EC-6E8F9D1CEA07}"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4330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B05306-D8BF-4FA5-A93A-0EAB4C301411}" type="datetimeFigureOut">
              <a:rPr lang="en-IN" smtClean="0"/>
              <a:t>06-12-2025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469DC1-BE9C-49F2-A7EC-6E8F9D1CEA07}"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4467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B05306-D8BF-4FA5-A93A-0EAB4C301411}" type="datetimeFigureOut">
              <a:rPr lang="en-IN" smtClean="0"/>
              <a:t>06-12-2025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469DC1-BE9C-49F2-A7EC-6E8F9D1CEA07}" type="slidenum">
              <a:rPr lang="en-IN" smtClean="0"/>
              <a:t>‹#›</a:t>
            </a:fld>
            <a:endParaRPr lang="en-IN"/>
          </a:p>
        </p:txBody>
      </p:sp>
    </p:spTree>
    <p:extLst>
      <p:ext uri="{BB962C8B-B14F-4D97-AF65-F5344CB8AC3E}">
        <p14:creationId xmlns:p14="http://schemas.microsoft.com/office/powerpoint/2010/main" val="1632070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B05306-D8BF-4FA5-A93A-0EAB4C301411}" type="datetimeFigureOut">
              <a:rPr lang="en-IN" smtClean="0"/>
              <a:t>06-12-2025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469DC1-BE9C-49F2-A7EC-6E8F9D1CEA07}"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4715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B05306-D8BF-4FA5-A93A-0EAB4C301411}" type="datetimeFigureOut">
              <a:rPr lang="en-IN" smtClean="0"/>
              <a:t>06-12-2025</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B469DC1-BE9C-49F2-A7EC-6E8F9D1CEA07}" type="slidenum">
              <a:rPr lang="en-IN" smtClean="0"/>
              <a:t>‹#›</a:t>
            </a:fld>
            <a:endParaRPr lang="en-IN"/>
          </a:p>
        </p:txBody>
      </p:sp>
    </p:spTree>
    <p:extLst>
      <p:ext uri="{BB962C8B-B14F-4D97-AF65-F5344CB8AC3E}">
        <p14:creationId xmlns:p14="http://schemas.microsoft.com/office/powerpoint/2010/main" val="503480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B05306-D8BF-4FA5-A93A-0EAB4C301411}" type="datetimeFigureOut">
              <a:rPr lang="en-IN" smtClean="0"/>
              <a:t>06-12-2025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469DC1-BE9C-49F2-A7EC-6E8F9D1CEA07}" type="slidenum">
              <a:rPr lang="en-IN" smtClean="0"/>
              <a:t>‹#›</a:t>
            </a:fld>
            <a:endParaRPr lang="en-IN"/>
          </a:p>
        </p:txBody>
      </p:sp>
    </p:spTree>
    <p:extLst>
      <p:ext uri="{BB962C8B-B14F-4D97-AF65-F5344CB8AC3E}">
        <p14:creationId xmlns:p14="http://schemas.microsoft.com/office/powerpoint/2010/main" val="624382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B05306-D8BF-4FA5-A93A-0EAB4C301411}" type="datetimeFigureOut">
              <a:rPr lang="en-IN" smtClean="0"/>
              <a:t>06-12-2025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469DC1-BE9C-49F2-A7EC-6E8F9D1CEA07}"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7034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B05306-D8BF-4FA5-A93A-0EAB4C301411}" type="datetimeFigureOut">
              <a:rPr lang="en-IN" smtClean="0"/>
              <a:t>06-12-2025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469DC1-BE9C-49F2-A7EC-6E8F9D1CEA07}"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8878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B05306-D8BF-4FA5-A93A-0EAB4C301411}" type="datetimeFigureOut">
              <a:rPr lang="en-IN" smtClean="0"/>
              <a:t>06-12-2025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469DC1-BE9C-49F2-A7EC-6E8F9D1CEA07}" type="slidenum">
              <a:rPr lang="en-IN" smtClean="0"/>
              <a:t>‹#›</a:t>
            </a:fld>
            <a:endParaRPr lang="en-IN"/>
          </a:p>
        </p:txBody>
      </p:sp>
    </p:spTree>
    <p:extLst>
      <p:ext uri="{BB962C8B-B14F-4D97-AF65-F5344CB8AC3E}">
        <p14:creationId xmlns:p14="http://schemas.microsoft.com/office/powerpoint/2010/main" val="1578983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B05306-D8BF-4FA5-A93A-0EAB4C301411}" type="datetimeFigureOut">
              <a:rPr lang="en-IN" smtClean="0"/>
              <a:t>06-12-2025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469DC1-BE9C-49F2-A7EC-6E8F9D1CEA07}"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73874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B05306-D8BF-4FA5-A93A-0EAB4C301411}" type="datetimeFigureOut">
              <a:rPr lang="en-IN" smtClean="0"/>
              <a:t>06-12-2025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469DC1-BE9C-49F2-A7EC-6E8F9D1CEA07}"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15509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5306-D8BF-4FA5-A93A-0EAB4C301411}" type="datetimeFigureOut">
              <a:rPr lang="en-IN" smtClean="0"/>
              <a:t>06-12-2025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469DC1-BE9C-49F2-A7EC-6E8F9D1CEA07}"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4329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5306-D8BF-4FA5-A93A-0EAB4C301411}" type="datetimeFigureOut">
              <a:rPr lang="en-IN" smtClean="0"/>
              <a:t>06-12-2025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469DC1-BE9C-49F2-A7EC-6E8F9D1CEA07}"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5288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DB05306-D8BF-4FA5-A93A-0EAB4C301411}" type="datetimeFigureOut">
              <a:rPr lang="en-IN" smtClean="0"/>
              <a:t>06-12-2025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B469DC1-BE9C-49F2-A7EC-6E8F9D1CEA07}" type="slidenum">
              <a:rPr lang="en-IN" smtClean="0"/>
              <a:t>‹#›</a:t>
            </a:fld>
            <a:endParaRPr lang="en-IN"/>
          </a:p>
        </p:txBody>
      </p:sp>
    </p:spTree>
    <p:extLst>
      <p:ext uri="{BB962C8B-B14F-4D97-AF65-F5344CB8AC3E}">
        <p14:creationId xmlns:p14="http://schemas.microsoft.com/office/powerpoint/2010/main" val="2486715239"/>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806" r:id="rId15"/>
    <p:sldLayoutId id="2147483807" r:id="rId16"/>
    <p:sldLayoutId id="2147483808"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s.ung.si/doku.php?id=what_is_a_tificial_intelligence_machine_lea_ning"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4352C-879B-57F4-1D42-01664C290B8D}"/>
              </a:ext>
            </a:extLst>
          </p:cNvPr>
          <p:cNvSpPr>
            <a:spLocks noGrp="1"/>
          </p:cNvSpPr>
          <p:nvPr>
            <p:ph type="ctrTitle"/>
          </p:nvPr>
        </p:nvSpPr>
        <p:spPr/>
        <p:txBody>
          <a:bodyPr/>
          <a:lstStyle/>
          <a:p>
            <a:r>
              <a:rPr lang="en-IN" dirty="0"/>
              <a:t>Title: Auto Tutor</a:t>
            </a:r>
          </a:p>
        </p:txBody>
      </p:sp>
      <p:sp>
        <p:nvSpPr>
          <p:cNvPr id="3" name="Subtitle 2">
            <a:extLst>
              <a:ext uri="{FF2B5EF4-FFF2-40B4-BE49-F238E27FC236}">
                <a16:creationId xmlns:a16="http://schemas.microsoft.com/office/drawing/2014/main" id="{32BF4379-23A2-DDA5-A80E-01D00768EE0F}"/>
              </a:ext>
            </a:extLst>
          </p:cNvPr>
          <p:cNvSpPr>
            <a:spLocks noGrp="1"/>
          </p:cNvSpPr>
          <p:nvPr>
            <p:ph type="subTitle" idx="1"/>
          </p:nvPr>
        </p:nvSpPr>
        <p:spPr/>
        <p:txBody>
          <a:bodyPr>
            <a:normAutofit/>
          </a:bodyPr>
          <a:lstStyle/>
          <a:p>
            <a:r>
              <a:rPr lang="en-US" dirty="0"/>
              <a:t>Presented by : Golla Narasimha</a:t>
            </a:r>
          </a:p>
          <a:p>
            <a:r>
              <a:rPr lang="en-US" dirty="0"/>
              <a:t>From AITS Kadapa </a:t>
            </a:r>
            <a:endParaRPr lang="en-IN" dirty="0"/>
          </a:p>
        </p:txBody>
      </p:sp>
    </p:spTree>
    <p:extLst>
      <p:ext uri="{BB962C8B-B14F-4D97-AF65-F5344CB8AC3E}">
        <p14:creationId xmlns:p14="http://schemas.microsoft.com/office/powerpoint/2010/main" val="4080020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8020F-5A74-6DF6-70F2-CA9F024526C7}"/>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0EEFB133-64EF-E01B-2F92-26EB765523C7}"/>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	Auto Tutor is an AI-powered automated learning platform that interacts with students like a human tutor. It provides personalized answers, explains complex topics, and supports independent learning using advanced AI technologies</a:t>
            </a:r>
            <a:r>
              <a:rPr lang="en-US" dirty="0"/>
              <a:t>.</a:t>
            </a:r>
            <a:endParaRPr lang="en-IN" dirty="0"/>
          </a:p>
          <a:p>
            <a:endParaRPr lang="en-IN" dirty="0"/>
          </a:p>
        </p:txBody>
      </p:sp>
      <p:pic>
        <p:nvPicPr>
          <p:cNvPr id="5" name="Picture 4">
            <a:extLst>
              <a:ext uri="{FF2B5EF4-FFF2-40B4-BE49-F238E27FC236}">
                <a16:creationId xmlns:a16="http://schemas.microsoft.com/office/drawing/2014/main" id="{CD7D7C91-3B31-0522-503F-EBC1B797B4B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682999" y="4030135"/>
            <a:ext cx="3801534" cy="1958846"/>
          </a:xfrm>
          <a:prstGeom prst="rect">
            <a:avLst/>
          </a:prstGeom>
        </p:spPr>
      </p:pic>
    </p:spTree>
    <p:extLst>
      <p:ext uri="{BB962C8B-B14F-4D97-AF65-F5344CB8AC3E}">
        <p14:creationId xmlns:p14="http://schemas.microsoft.com/office/powerpoint/2010/main" val="883903822"/>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DE2FD-0162-1762-9488-B18062305A9C}"/>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3F2FCF1F-FFFF-0943-A316-9C77778960B1}"/>
              </a:ext>
            </a:extLst>
          </p:cNvPr>
          <p:cNvSpPr>
            <a:spLocks noGrp="1"/>
          </p:cNvSpPr>
          <p:nvPr>
            <p:ph idx="1"/>
          </p:nvPr>
        </p:nvSpPr>
        <p:spPr/>
        <p:txBody>
          <a:bodyPr/>
          <a:lstStyle/>
          <a:p>
            <a:pPr marL="0" indent="0">
              <a:buNone/>
            </a:pPr>
            <a:r>
              <a:rPr lang="en-US" dirty="0"/>
              <a:t>Traditional learning methods often lack:</a:t>
            </a:r>
          </a:p>
          <a:p>
            <a:r>
              <a:rPr lang="en-US" dirty="0"/>
              <a:t>Instant doubt clarification</a:t>
            </a:r>
          </a:p>
          <a:p>
            <a:r>
              <a:rPr lang="en-US" dirty="0"/>
              <a:t>Personalized learning guidance</a:t>
            </a:r>
          </a:p>
          <a:p>
            <a:r>
              <a:rPr lang="en-US" dirty="0"/>
              <a:t>Adaptive tutoring support</a:t>
            </a:r>
          </a:p>
          <a:p>
            <a:r>
              <a:rPr lang="en-US" dirty="0"/>
              <a:t>Accessibility outside the classroom</a:t>
            </a:r>
          </a:p>
          <a:p>
            <a:r>
              <a:rPr lang="en-US" dirty="0"/>
              <a:t>Students need a smart solution to get knowledge anytime, anywhere.</a:t>
            </a:r>
          </a:p>
          <a:p>
            <a:endParaRPr lang="en-IN" dirty="0"/>
          </a:p>
        </p:txBody>
      </p:sp>
    </p:spTree>
    <p:extLst>
      <p:ext uri="{BB962C8B-B14F-4D97-AF65-F5344CB8AC3E}">
        <p14:creationId xmlns:p14="http://schemas.microsoft.com/office/powerpoint/2010/main" val="524497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BEBB2-4DF8-42FF-6302-901B4B621B58}"/>
              </a:ext>
            </a:extLst>
          </p:cNvPr>
          <p:cNvSpPr>
            <a:spLocks noGrp="1"/>
          </p:cNvSpPr>
          <p:nvPr>
            <p:ph type="title"/>
          </p:nvPr>
        </p:nvSpPr>
        <p:spPr/>
        <p:txBody>
          <a:bodyPr/>
          <a:lstStyle/>
          <a:p>
            <a:r>
              <a:rPr lang="en-IN" dirty="0"/>
              <a:t>Aim of the Project</a:t>
            </a:r>
          </a:p>
        </p:txBody>
      </p:sp>
      <p:sp>
        <p:nvSpPr>
          <p:cNvPr id="3" name="Content Placeholder 2">
            <a:extLst>
              <a:ext uri="{FF2B5EF4-FFF2-40B4-BE49-F238E27FC236}">
                <a16:creationId xmlns:a16="http://schemas.microsoft.com/office/drawing/2014/main" id="{6CB49CDC-A3BB-DE6E-C1D6-D32E35725D5C}"/>
              </a:ext>
            </a:extLst>
          </p:cNvPr>
          <p:cNvSpPr>
            <a:spLocks noGrp="1"/>
          </p:cNvSpPr>
          <p:nvPr>
            <p:ph idx="1"/>
          </p:nvPr>
        </p:nvSpPr>
        <p:spPr/>
        <p:txBody>
          <a:bodyPr/>
          <a:lstStyle/>
          <a:p>
            <a:pPr marL="0" indent="0">
              <a:buNone/>
            </a:pPr>
            <a:r>
              <a:rPr lang="en-US" dirty="0"/>
              <a:t>	To design and develop an AI-based Auto Tutor system that enables students to ask academic questions and receive accurate, quick, and personalized responses.</a:t>
            </a:r>
            <a:endParaRPr lang="en-IN" dirty="0"/>
          </a:p>
        </p:txBody>
      </p:sp>
    </p:spTree>
    <p:extLst>
      <p:ext uri="{BB962C8B-B14F-4D97-AF65-F5344CB8AC3E}">
        <p14:creationId xmlns:p14="http://schemas.microsoft.com/office/powerpoint/2010/main" val="545063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F8C3E-AC62-0B37-7CE1-1150B32702BC}"/>
              </a:ext>
            </a:extLst>
          </p:cNvPr>
          <p:cNvSpPr>
            <a:spLocks noGrp="1"/>
          </p:cNvSpPr>
          <p:nvPr>
            <p:ph type="title"/>
          </p:nvPr>
        </p:nvSpPr>
        <p:spPr/>
        <p:txBody>
          <a:bodyPr/>
          <a:lstStyle/>
          <a:p>
            <a:r>
              <a:rPr lang="en-IN" dirty="0"/>
              <a:t>Objectives</a:t>
            </a:r>
          </a:p>
        </p:txBody>
      </p:sp>
      <p:sp>
        <p:nvSpPr>
          <p:cNvPr id="5" name="Rectangle 2">
            <a:extLst>
              <a:ext uri="{FF2B5EF4-FFF2-40B4-BE49-F238E27FC236}">
                <a16:creationId xmlns:a16="http://schemas.microsoft.com/office/drawing/2014/main" id="{7218B8CB-2FEA-A230-648B-EC8066DD24A5}"/>
              </a:ext>
            </a:extLst>
          </p:cNvPr>
          <p:cNvSpPr>
            <a:spLocks noGrp="1" noChangeArrowheads="1"/>
          </p:cNvSpPr>
          <p:nvPr>
            <p:ph idx="1"/>
          </p:nvPr>
        </p:nvSpPr>
        <p:spPr bwMode="auto">
          <a:xfrm>
            <a:off x="1608667" y="2727721"/>
            <a:ext cx="716279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To create a user-friendly learning assistant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To integrate AI/ML for intelligent response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To provide instant and reliable learning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To ensure continuous improvement using student interaction data</a:t>
            </a:r>
          </a:p>
        </p:txBody>
      </p:sp>
    </p:spTree>
    <p:extLst>
      <p:ext uri="{BB962C8B-B14F-4D97-AF65-F5344CB8AC3E}">
        <p14:creationId xmlns:p14="http://schemas.microsoft.com/office/powerpoint/2010/main" val="1625539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21B15-C349-8D87-FADF-A3D7F15465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3D27B-EC07-9A10-23F2-9C0DE27CBEBE}"/>
              </a:ext>
            </a:extLst>
          </p:cNvPr>
          <p:cNvSpPr>
            <a:spLocks noGrp="1"/>
          </p:cNvSpPr>
          <p:nvPr>
            <p:ph type="title"/>
          </p:nvPr>
        </p:nvSpPr>
        <p:spPr/>
        <p:txBody>
          <a:bodyPr/>
          <a:lstStyle/>
          <a:p>
            <a:r>
              <a:rPr lang="en-IN" dirty="0"/>
              <a:t>Technologies Used</a:t>
            </a:r>
          </a:p>
        </p:txBody>
      </p:sp>
      <p:graphicFrame>
        <p:nvGraphicFramePr>
          <p:cNvPr id="4" name="Content Placeholder 3">
            <a:extLst>
              <a:ext uri="{FF2B5EF4-FFF2-40B4-BE49-F238E27FC236}">
                <a16:creationId xmlns:a16="http://schemas.microsoft.com/office/drawing/2014/main" id="{EB4F6080-E8F3-84C0-9F45-350E66EC98A8}"/>
              </a:ext>
            </a:extLst>
          </p:cNvPr>
          <p:cNvGraphicFramePr>
            <a:graphicFrameLocks noGrp="1"/>
          </p:cNvGraphicFramePr>
          <p:nvPr>
            <p:ph idx="1"/>
          </p:nvPr>
        </p:nvGraphicFramePr>
        <p:xfrm>
          <a:off x="2045106" y="2557463"/>
          <a:ext cx="8101788" cy="3317875"/>
        </p:xfrm>
        <a:graphic>
          <a:graphicData uri="http://schemas.openxmlformats.org/drawingml/2006/table">
            <a:tbl>
              <a:tblPr/>
              <a:tblGrid>
                <a:gridCol w="2700596">
                  <a:extLst>
                    <a:ext uri="{9D8B030D-6E8A-4147-A177-3AD203B41FA5}">
                      <a16:colId xmlns:a16="http://schemas.microsoft.com/office/drawing/2014/main" val="3506948162"/>
                    </a:ext>
                  </a:extLst>
                </a:gridCol>
                <a:gridCol w="2700596">
                  <a:extLst>
                    <a:ext uri="{9D8B030D-6E8A-4147-A177-3AD203B41FA5}">
                      <a16:colId xmlns:a16="http://schemas.microsoft.com/office/drawing/2014/main" val="1356389765"/>
                    </a:ext>
                  </a:extLst>
                </a:gridCol>
                <a:gridCol w="2700596">
                  <a:extLst>
                    <a:ext uri="{9D8B030D-6E8A-4147-A177-3AD203B41FA5}">
                      <a16:colId xmlns:a16="http://schemas.microsoft.com/office/drawing/2014/main" val="3855054600"/>
                    </a:ext>
                  </a:extLst>
                </a:gridCol>
              </a:tblGrid>
              <a:tr h="308640">
                <a:tc>
                  <a:txBody>
                    <a:bodyPr/>
                    <a:lstStyle/>
                    <a:p>
                      <a:pPr>
                        <a:buNone/>
                      </a:pPr>
                      <a:r>
                        <a:rPr lang="en-IN" sz="1500"/>
                        <a:t>Category</a:t>
                      </a:r>
                    </a:p>
                  </a:txBody>
                  <a:tcPr marL="77160" marR="77160" marT="38580" marB="38580" anchor="ctr">
                    <a:lnL>
                      <a:noFill/>
                    </a:lnL>
                    <a:lnR>
                      <a:noFill/>
                    </a:lnR>
                    <a:lnT>
                      <a:noFill/>
                    </a:lnT>
                    <a:lnB>
                      <a:noFill/>
                    </a:lnB>
                    <a:noFill/>
                  </a:tcPr>
                </a:tc>
                <a:tc>
                  <a:txBody>
                    <a:bodyPr/>
                    <a:lstStyle/>
                    <a:p>
                      <a:pPr>
                        <a:buNone/>
                      </a:pPr>
                      <a:r>
                        <a:rPr lang="en-IN" sz="1500"/>
                        <a:t>Technology</a:t>
                      </a:r>
                    </a:p>
                  </a:txBody>
                  <a:tcPr marL="77160" marR="77160" marT="38580" marB="38580" anchor="ctr">
                    <a:lnL>
                      <a:noFill/>
                    </a:lnL>
                    <a:lnR>
                      <a:noFill/>
                    </a:lnR>
                    <a:lnT>
                      <a:noFill/>
                    </a:lnT>
                    <a:lnB>
                      <a:noFill/>
                    </a:lnB>
                    <a:noFill/>
                  </a:tcPr>
                </a:tc>
                <a:tc>
                  <a:txBody>
                    <a:bodyPr/>
                    <a:lstStyle/>
                    <a:p>
                      <a:pPr>
                        <a:buNone/>
                      </a:pPr>
                      <a:r>
                        <a:rPr lang="en-IN" sz="1500"/>
                        <a:t>Purpose</a:t>
                      </a:r>
                    </a:p>
                  </a:txBody>
                  <a:tcPr marL="77160" marR="77160" marT="38580" marB="38580" anchor="ctr">
                    <a:lnL>
                      <a:noFill/>
                    </a:lnL>
                    <a:lnR>
                      <a:noFill/>
                    </a:lnR>
                    <a:lnT>
                      <a:noFill/>
                    </a:lnT>
                    <a:lnB>
                      <a:noFill/>
                    </a:lnB>
                    <a:noFill/>
                  </a:tcPr>
                </a:tc>
                <a:extLst>
                  <a:ext uri="{0D108BD9-81ED-4DB2-BD59-A6C34878D82A}">
                    <a16:rowId xmlns:a16="http://schemas.microsoft.com/office/drawing/2014/main" val="3039484650"/>
                  </a:ext>
                </a:extLst>
              </a:tr>
              <a:tr h="540119">
                <a:tc>
                  <a:txBody>
                    <a:bodyPr/>
                    <a:lstStyle/>
                    <a:p>
                      <a:pPr>
                        <a:buNone/>
                      </a:pPr>
                      <a:r>
                        <a:rPr lang="en-IN" sz="1500"/>
                        <a:t>AI Model / NLP</a:t>
                      </a:r>
                    </a:p>
                  </a:txBody>
                  <a:tcPr marL="77160" marR="77160" marT="38580" marB="38580" anchor="ctr">
                    <a:lnL>
                      <a:noFill/>
                    </a:lnL>
                    <a:lnR>
                      <a:noFill/>
                    </a:lnR>
                    <a:lnT>
                      <a:noFill/>
                    </a:lnT>
                    <a:lnB>
                      <a:noFill/>
                    </a:lnB>
                    <a:noFill/>
                  </a:tcPr>
                </a:tc>
                <a:tc>
                  <a:txBody>
                    <a:bodyPr/>
                    <a:lstStyle/>
                    <a:p>
                      <a:pPr>
                        <a:buNone/>
                      </a:pPr>
                      <a:r>
                        <a:rPr lang="en-IN" sz="1500" b="1"/>
                        <a:t>GPT-4.0</a:t>
                      </a:r>
                      <a:r>
                        <a:rPr lang="en-IN" sz="1500"/>
                        <a:t> (OpenAI)</a:t>
                      </a:r>
                    </a:p>
                  </a:txBody>
                  <a:tcPr marL="77160" marR="77160" marT="38580" marB="38580" anchor="ctr">
                    <a:lnL>
                      <a:noFill/>
                    </a:lnL>
                    <a:lnR>
                      <a:noFill/>
                    </a:lnR>
                    <a:lnT>
                      <a:noFill/>
                    </a:lnT>
                    <a:lnB>
                      <a:noFill/>
                    </a:lnB>
                    <a:noFill/>
                  </a:tcPr>
                </a:tc>
                <a:tc>
                  <a:txBody>
                    <a:bodyPr/>
                    <a:lstStyle/>
                    <a:p>
                      <a:pPr>
                        <a:buNone/>
                      </a:pPr>
                      <a:r>
                        <a:rPr lang="en-US" sz="1500"/>
                        <a:t>Generates intelligent, accurate answers to student queries</a:t>
                      </a:r>
                    </a:p>
                  </a:txBody>
                  <a:tcPr marL="77160" marR="77160" marT="38580" marB="38580" anchor="ctr">
                    <a:lnL>
                      <a:noFill/>
                    </a:lnL>
                    <a:lnR>
                      <a:noFill/>
                    </a:lnR>
                    <a:lnT>
                      <a:noFill/>
                    </a:lnT>
                    <a:lnB>
                      <a:noFill/>
                    </a:lnB>
                    <a:noFill/>
                  </a:tcPr>
                </a:tc>
                <a:extLst>
                  <a:ext uri="{0D108BD9-81ED-4DB2-BD59-A6C34878D82A}">
                    <a16:rowId xmlns:a16="http://schemas.microsoft.com/office/drawing/2014/main" val="1480941060"/>
                  </a:ext>
                </a:extLst>
              </a:tr>
              <a:tr h="540119">
                <a:tc>
                  <a:txBody>
                    <a:bodyPr/>
                    <a:lstStyle/>
                    <a:p>
                      <a:pPr>
                        <a:buNone/>
                      </a:pPr>
                      <a:r>
                        <a:rPr lang="en-IN" sz="1500"/>
                        <a:t>Image Generation</a:t>
                      </a:r>
                    </a:p>
                  </a:txBody>
                  <a:tcPr marL="77160" marR="77160" marT="38580" marB="38580" anchor="ctr">
                    <a:lnL>
                      <a:noFill/>
                    </a:lnL>
                    <a:lnR>
                      <a:noFill/>
                    </a:lnR>
                    <a:lnT>
                      <a:noFill/>
                    </a:lnT>
                    <a:lnB>
                      <a:noFill/>
                    </a:lnB>
                    <a:noFill/>
                  </a:tcPr>
                </a:tc>
                <a:tc>
                  <a:txBody>
                    <a:bodyPr/>
                    <a:lstStyle/>
                    <a:p>
                      <a:pPr>
                        <a:buNone/>
                      </a:pPr>
                      <a:r>
                        <a:rPr lang="en-IN" sz="1500" b="1"/>
                        <a:t>DALL·E</a:t>
                      </a:r>
                      <a:endParaRPr lang="en-IN" sz="1500"/>
                    </a:p>
                  </a:txBody>
                  <a:tcPr marL="77160" marR="77160" marT="38580" marB="38580" anchor="ctr">
                    <a:lnL>
                      <a:noFill/>
                    </a:lnL>
                    <a:lnR>
                      <a:noFill/>
                    </a:lnR>
                    <a:lnT>
                      <a:noFill/>
                    </a:lnT>
                    <a:lnB>
                      <a:noFill/>
                    </a:lnB>
                    <a:noFill/>
                  </a:tcPr>
                </a:tc>
                <a:tc>
                  <a:txBody>
                    <a:bodyPr/>
                    <a:lstStyle/>
                    <a:p>
                      <a:pPr>
                        <a:buNone/>
                      </a:pPr>
                      <a:r>
                        <a:rPr lang="en-US" sz="1500"/>
                        <a:t>Creates visual learning content &amp; diagrams on demand</a:t>
                      </a:r>
                    </a:p>
                  </a:txBody>
                  <a:tcPr marL="77160" marR="77160" marT="38580" marB="38580" anchor="ctr">
                    <a:lnL>
                      <a:noFill/>
                    </a:lnL>
                    <a:lnR>
                      <a:noFill/>
                    </a:lnR>
                    <a:lnT>
                      <a:noFill/>
                    </a:lnT>
                    <a:lnB>
                      <a:noFill/>
                    </a:lnB>
                    <a:noFill/>
                  </a:tcPr>
                </a:tc>
                <a:extLst>
                  <a:ext uri="{0D108BD9-81ED-4DB2-BD59-A6C34878D82A}">
                    <a16:rowId xmlns:a16="http://schemas.microsoft.com/office/drawing/2014/main" val="617376555"/>
                  </a:ext>
                </a:extLst>
              </a:tr>
              <a:tr h="540119">
                <a:tc>
                  <a:txBody>
                    <a:bodyPr/>
                    <a:lstStyle/>
                    <a:p>
                      <a:pPr>
                        <a:buNone/>
                      </a:pPr>
                      <a:r>
                        <a:rPr lang="en-IN" sz="1500"/>
                        <a:t>Speech-to-Text</a:t>
                      </a:r>
                    </a:p>
                  </a:txBody>
                  <a:tcPr marL="77160" marR="77160" marT="38580" marB="38580" anchor="ctr">
                    <a:lnL>
                      <a:noFill/>
                    </a:lnL>
                    <a:lnR>
                      <a:noFill/>
                    </a:lnR>
                    <a:lnT>
                      <a:noFill/>
                    </a:lnT>
                    <a:lnB>
                      <a:noFill/>
                    </a:lnB>
                    <a:noFill/>
                  </a:tcPr>
                </a:tc>
                <a:tc>
                  <a:txBody>
                    <a:bodyPr/>
                    <a:lstStyle/>
                    <a:p>
                      <a:pPr>
                        <a:buNone/>
                      </a:pPr>
                      <a:r>
                        <a:rPr lang="en-IN" sz="1500" b="1"/>
                        <a:t>Whisper</a:t>
                      </a:r>
                      <a:endParaRPr lang="en-IN" sz="1500"/>
                    </a:p>
                  </a:txBody>
                  <a:tcPr marL="77160" marR="77160" marT="38580" marB="38580" anchor="ctr">
                    <a:lnL>
                      <a:noFill/>
                    </a:lnL>
                    <a:lnR>
                      <a:noFill/>
                    </a:lnR>
                    <a:lnT>
                      <a:noFill/>
                    </a:lnT>
                    <a:lnB>
                      <a:noFill/>
                    </a:lnB>
                    <a:noFill/>
                  </a:tcPr>
                </a:tc>
                <a:tc>
                  <a:txBody>
                    <a:bodyPr/>
                    <a:lstStyle/>
                    <a:p>
                      <a:pPr>
                        <a:buNone/>
                      </a:pPr>
                      <a:r>
                        <a:rPr lang="en-US" sz="1500"/>
                        <a:t>Converts student voice queries into text for processing</a:t>
                      </a:r>
                    </a:p>
                  </a:txBody>
                  <a:tcPr marL="77160" marR="77160" marT="38580" marB="38580" anchor="ctr">
                    <a:lnL>
                      <a:noFill/>
                    </a:lnL>
                    <a:lnR>
                      <a:noFill/>
                    </a:lnR>
                    <a:lnT>
                      <a:noFill/>
                    </a:lnT>
                    <a:lnB>
                      <a:noFill/>
                    </a:lnB>
                    <a:noFill/>
                  </a:tcPr>
                </a:tc>
                <a:extLst>
                  <a:ext uri="{0D108BD9-81ED-4DB2-BD59-A6C34878D82A}">
                    <a16:rowId xmlns:a16="http://schemas.microsoft.com/office/drawing/2014/main" val="4048830924"/>
                  </a:ext>
                </a:extLst>
              </a:tr>
              <a:tr h="540119">
                <a:tc>
                  <a:txBody>
                    <a:bodyPr/>
                    <a:lstStyle/>
                    <a:p>
                      <a:pPr>
                        <a:buNone/>
                      </a:pPr>
                      <a:r>
                        <a:rPr lang="en-IN" sz="1500"/>
                        <a:t>Frontend</a:t>
                      </a:r>
                    </a:p>
                  </a:txBody>
                  <a:tcPr marL="77160" marR="77160" marT="38580" marB="38580" anchor="ctr">
                    <a:lnL>
                      <a:noFill/>
                    </a:lnL>
                    <a:lnR>
                      <a:noFill/>
                    </a:lnR>
                    <a:lnT>
                      <a:noFill/>
                    </a:lnT>
                    <a:lnB>
                      <a:noFill/>
                    </a:lnB>
                    <a:noFill/>
                  </a:tcPr>
                </a:tc>
                <a:tc>
                  <a:txBody>
                    <a:bodyPr/>
                    <a:lstStyle/>
                    <a:p>
                      <a:pPr>
                        <a:buNone/>
                      </a:pPr>
                      <a:r>
                        <a:rPr lang="en-IN" sz="1500" dirty="0"/>
                        <a:t>HTML, CSS, JavaScript / React</a:t>
                      </a:r>
                    </a:p>
                  </a:txBody>
                  <a:tcPr marL="77160" marR="77160" marT="38580" marB="38580" anchor="ctr">
                    <a:lnL>
                      <a:noFill/>
                    </a:lnL>
                    <a:lnR>
                      <a:noFill/>
                    </a:lnR>
                    <a:lnT>
                      <a:noFill/>
                    </a:lnT>
                    <a:lnB>
                      <a:noFill/>
                    </a:lnB>
                    <a:noFill/>
                  </a:tcPr>
                </a:tc>
                <a:tc>
                  <a:txBody>
                    <a:bodyPr/>
                    <a:lstStyle/>
                    <a:p>
                      <a:pPr>
                        <a:buNone/>
                      </a:pPr>
                      <a:r>
                        <a:rPr lang="en-IN" sz="1500"/>
                        <a:t>Interactive user interface for students</a:t>
                      </a:r>
                    </a:p>
                  </a:txBody>
                  <a:tcPr marL="77160" marR="77160" marT="38580" marB="38580" anchor="ctr">
                    <a:lnL>
                      <a:noFill/>
                    </a:lnL>
                    <a:lnR>
                      <a:noFill/>
                    </a:lnR>
                    <a:lnT>
                      <a:noFill/>
                    </a:lnT>
                    <a:lnB>
                      <a:noFill/>
                    </a:lnB>
                    <a:noFill/>
                  </a:tcPr>
                </a:tc>
                <a:extLst>
                  <a:ext uri="{0D108BD9-81ED-4DB2-BD59-A6C34878D82A}">
                    <a16:rowId xmlns:a16="http://schemas.microsoft.com/office/drawing/2014/main" val="560843265"/>
                  </a:ext>
                </a:extLst>
              </a:tr>
              <a:tr h="540119">
                <a:tc>
                  <a:txBody>
                    <a:bodyPr/>
                    <a:lstStyle/>
                    <a:p>
                      <a:pPr>
                        <a:buNone/>
                      </a:pPr>
                      <a:r>
                        <a:rPr lang="en-IN" sz="1500"/>
                        <a:t>Backend</a:t>
                      </a:r>
                    </a:p>
                  </a:txBody>
                  <a:tcPr marL="77160" marR="77160" marT="38580" marB="38580" anchor="ctr">
                    <a:lnL>
                      <a:noFill/>
                    </a:lnL>
                    <a:lnR>
                      <a:noFill/>
                    </a:lnR>
                    <a:lnT>
                      <a:noFill/>
                    </a:lnT>
                    <a:lnB>
                      <a:noFill/>
                    </a:lnB>
                    <a:noFill/>
                  </a:tcPr>
                </a:tc>
                <a:tc>
                  <a:txBody>
                    <a:bodyPr/>
                    <a:lstStyle/>
                    <a:p>
                      <a:pPr>
                        <a:buNone/>
                      </a:pPr>
                      <a:r>
                        <a:rPr lang="en-IN" sz="1500"/>
                        <a:t>Flask / Node.js API</a:t>
                      </a:r>
                    </a:p>
                  </a:txBody>
                  <a:tcPr marL="77160" marR="77160" marT="38580" marB="38580" anchor="ctr">
                    <a:lnL>
                      <a:noFill/>
                    </a:lnL>
                    <a:lnR>
                      <a:noFill/>
                    </a:lnR>
                    <a:lnT>
                      <a:noFill/>
                    </a:lnT>
                    <a:lnB>
                      <a:noFill/>
                    </a:lnB>
                    <a:noFill/>
                  </a:tcPr>
                </a:tc>
                <a:tc>
                  <a:txBody>
                    <a:bodyPr/>
                    <a:lstStyle/>
                    <a:p>
                      <a:pPr>
                        <a:buNone/>
                      </a:pPr>
                      <a:r>
                        <a:rPr lang="en-IN" sz="1500"/>
                        <a:t>Handles request processing &amp; AI model communication</a:t>
                      </a:r>
                    </a:p>
                  </a:txBody>
                  <a:tcPr marL="77160" marR="77160" marT="38580" marB="38580" anchor="ctr">
                    <a:lnL>
                      <a:noFill/>
                    </a:lnL>
                    <a:lnR>
                      <a:noFill/>
                    </a:lnR>
                    <a:lnT>
                      <a:noFill/>
                    </a:lnT>
                    <a:lnB>
                      <a:noFill/>
                    </a:lnB>
                    <a:noFill/>
                  </a:tcPr>
                </a:tc>
                <a:extLst>
                  <a:ext uri="{0D108BD9-81ED-4DB2-BD59-A6C34878D82A}">
                    <a16:rowId xmlns:a16="http://schemas.microsoft.com/office/drawing/2014/main" val="2221939672"/>
                  </a:ext>
                </a:extLst>
              </a:tr>
              <a:tr h="308640">
                <a:tc>
                  <a:txBody>
                    <a:bodyPr/>
                    <a:lstStyle/>
                    <a:p>
                      <a:pPr>
                        <a:buNone/>
                      </a:pPr>
                      <a:r>
                        <a:rPr lang="en-IN" sz="1500"/>
                        <a:t>Deployment</a:t>
                      </a:r>
                    </a:p>
                  </a:txBody>
                  <a:tcPr marL="77160" marR="77160" marT="38580" marB="38580" anchor="ctr">
                    <a:lnL>
                      <a:noFill/>
                    </a:lnL>
                    <a:lnR>
                      <a:noFill/>
                    </a:lnR>
                    <a:lnT>
                      <a:noFill/>
                    </a:lnT>
                    <a:lnB>
                      <a:noFill/>
                    </a:lnB>
                    <a:noFill/>
                  </a:tcPr>
                </a:tc>
                <a:tc>
                  <a:txBody>
                    <a:bodyPr/>
                    <a:lstStyle/>
                    <a:p>
                      <a:pPr>
                        <a:buNone/>
                      </a:pPr>
                      <a:r>
                        <a:rPr lang="en-IN" sz="1500"/>
                        <a:t>Cloud Hosting / Vercel / Render</a:t>
                      </a:r>
                    </a:p>
                  </a:txBody>
                  <a:tcPr marL="77160" marR="77160" marT="38580" marB="38580" anchor="ctr">
                    <a:lnL>
                      <a:noFill/>
                    </a:lnL>
                    <a:lnR>
                      <a:noFill/>
                    </a:lnR>
                    <a:lnT>
                      <a:noFill/>
                    </a:lnT>
                    <a:lnB>
                      <a:noFill/>
                    </a:lnB>
                    <a:noFill/>
                  </a:tcPr>
                </a:tc>
                <a:tc>
                  <a:txBody>
                    <a:bodyPr/>
                    <a:lstStyle/>
                    <a:p>
                      <a:pPr>
                        <a:buNone/>
                      </a:pPr>
                      <a:r>
                        <a:rPr lang="en-IN" sz="1500" dirty="0"/>
                        <a:t>Runs the application online</a:t>
                      </a:r>
                    </a:p>
                  </a:txBody>
                  <a:tcPr marL="77160" marR="77160" marT="38580" marB="38580" anchor="ctr">
                    <a:lnL>
                      <a:noFill/>
                    </a:lnL>
                    <a:lnR>
                      <a:noFill/>
                    </a:lnR>
                    <a:lnT>
                      <a:noFill/>
                    </a:lnT>
                    <a:lnB>
                      <a:noFill/>
                    </a:lnB>
                    <a:noFill/>
                  </a:tcPr>
                </a:tc>
                <a:extLst>
                  <a:ext uri="{0D108BD9-81ED-4DB2-BD59-A6C34878D82A}">
                    <a16:rowId xmlns:a16="http://schemas.microsoft.com/office/drawing/2014/main" val="2248532438"/>
                  </a:ext>
                </a:extLst>
              </a:tr>
            </a:tbl>
          </a:graphicData>
        </a:graphic>
      </p:graphicFrame>
    </p:spTree>
    <p:extLst>
      <p:ext uri="{BB962C8B-B14F-4D97-AF65-F5344CB8AC3E}">
        <p14:creationId xmlns:p14="http://schemas.microsoft.com/office/powerpoint/2010/main" val="2600940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8B9E3-9D8E-5ED2-8EFF-1354E0513C7E}"/>
              </a:ext>
            </a:extLst>
          </p:cNvPr>
          <p:cNvSpPr>
            <a:spLocks noGrp="1"/>
          </p:cNvSpPr>
          <p:nvPr>
            <p:ph type="title"/>
          </p:nvPr>
        </p:nvSpPr>
        <p:spPr/>
        <p:txBody>
          <a:bodyPr/>
          <a:lstStyle/>
          <a:p>
            <a:r>
              <a:rPr lang="en-IN" dirty="0"/>
              <a:t>Key Features</a:t>
            </a:r>
          </a:p>
        </p:txBody>
      </p:sp>
      <p:sp>
        <p:nvSpPr>
          <p:cNvPr id="3" name="Content Placeholder 2">
            <a:extLst>
              <a:ext uri="{FF2B5EF4-FFF2-40B4-BE49-F238E27FC236}">
                <a16:creationId xmlns:a16="http://schemas.microsoft.com/office/drawing/2014/main" id="{74947B4B-4FA6-5AC1-54EF-F0CDA7191504}"/>
              </a:ext>
            </a:extLst>
          </p:cNvPr>
          <p:cNvSpPr>
            <a:spLocks noGrp="1"/>
          </p:cNvSpPr>
          <p:nvPr>
            <p:ph idx="1"/>
          </p:nvPr>
        </p:nvSpPr>
        <p:spPr/>
        <p:txBody>
          <a:bodyPr>
            <a:normAutofit fontScale="92500" lnSpcReduction="10000"/>
          </a:bodyPr>
          <a:lstStyle/>
          <a:p>
            <a:r>
              <a:rPr lang="en-US" dirty="0"/>
              <a:t>AI-based live tutoring</a:t>
            </a:r>
          </a:p>
          <a:p>
            <a:r>
              <a:rPr lang="en-US" dirty="0"/>
              <a:t>Natural language processing</a:t>
            </a:r>
          </a:p>
          <a:p>
            <a:r>
              <a:rPr lang="en-US" dirty="0"/>
              <a:t>Personalized learning recommendations</a:t>
            </a:r>
          </a:p>
          <a:p>
            <a:r>
              <a:rPr lang="en-US" dirty="0"/>
              <a:t>Easy-to-use interface</a:t>
            </a:r>
          </a:p>
          <a:p>
            <a:r>
              <a:rPr lang="en-US" dirty="0"/>
              <a:t>Detailed explanation for each query</a:t>
            </a:r>
          </a:p>
          <a:p>
            <a:r>
              <a:rPr lang="en-US" dirty="0"/>
              <a:t>Supports multiple subjects</a:t>
            </a:r>
          </a:p>
          <a:p>
            <a:r>
              <a:rPr lang="en-US" dirty="0"/>
              <a:t>Available 24x7</a:t>
            </a:r>
          </a:p>
          <a:p>
            <a:endParaRPr lang="en-IN" dirty="0"/>
          </a:p>
        </p:txBody>
      </p:sp>
    </p:spTree>
    <p:extLst>
      <p:ext uri="{BB962C8B-B14F-4D97-AF65-F5344CB8AC3E}">
        <p14:creationId xmlns:p14="http://schemas.microsoft.com/office/powerpoint/2010/main" val="599257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AACC6-1083-961A-EF31-426308256F54}"/>
              </a:ext>
            </a:extLst>
          </p:cNvPr>
          <p:cNvSpPr>
            <a:spLocks noGrp="1"/>
          </p:cNvSpPr>
          <p:nvPr>
            <p:ph type="title"/>
          </p:nvPr>
        </p:nvSpPr>
        <p:spPr/>
        <p:txBody>
          <a:bodyPr/>
          <a:lstStyle/>
          <a:p>
            <a:r>
              <a:rPr lang="en-US" dirty="0"/>
              <a:t>Workflow</a:t>
            </a:r>
            <a:endParaRPr lang="en-IN" dirty="0"/>
          </a:p>
        </p:txBody>
      </p:sp>
      <p:sp>
        <p:nvSpPr>
          <p:cNvPr id="3" name="Content Placeholder 2">
            <a:extLst>
              <a:ext uri="{FF2B5EF4-FFF2-40B4-BE49-F238E27FC236}">
                <a16:creationId xmlns:a16="http://schemas.microsoft.com/office/drawing/2014/main" id="{3915A3A4-CC7A-134B-D673-DCEFC1F392C4}"/>
              </a:ext>
            </a:extLst>
          </p:cNvPr>
          <p:cNvSpPr>
            <a:spLocks noGrp="1"/>
          </p:cNvSpPr>
          <p:nvPr>
            <p:ph idx="1"/>
          </p:nvPr>
        </p:nvSpPr>
        <p:spPr/>
        <p:txBody>
          <a:bodyPr/>
          <a:lstStyle/>
          <a:p>
            <a:r>
              <a:rPr lang="en-US" dirty="0"/>
              <a:t>Student enters question</a:t>
            </a:r>
          </a:p>
          <a:p>
            <a:r>
              <a:rPr lang="en-US" dirty="0"/>
              <a:t>Query sent to AI engine (ChatGPT or ML model)</a:t>
            </a:r>
          </a:p>
          <a:p>
            <a:r>
              <a:rPr lang="en-US" dirty="0"/>
              <a:t>Response generated based on trained data &amp; NLP</a:t>
            </a:r>
          </a:p>
          <a:p>
            <a:r>
              <a:rPr lang="en-US" dirty="0"/>
              <a:t>Result displayed to student</a:t>
            </a:r>
          </a:p>
          <a:p>
            <a:r>
              <a:rPr lang="en-US" dirty="0"/>
              <a:t>Feedback collected to improve future responses</a:t>
            </a:r>
          </a:p>
          <a:p>
            <a:endParaRPr lang="en-IN" dirty="0"/>
          </a:p>
        </p:txBody>
      </p:sp>
    </p:spTree>
    <p:extLst>
      <p:ext uri="{BB962C8B-B14F-4D97-AF65-F5344CB8AC3E}">
        <p14:creationId xmlns:p14="http://schemas.microsoft.com/office/powerpoint/2010/main" val="1544149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4E1C-A92F-DF0C-A432-FEDC6C44BFDD}"/>
              </a:ext>
            </a:extLst>
          </p:cNvPr>
          <p:cNvSpPr>
            <a:spLocks noGrp="1"/>
          </p:cNvSpPr>
          <p:nvPr>
            <p:ph type="title"/>
          </p:nvPr>
        </p:nvSpPr>
        <p:spPr/>
        <p:txBody>
          <a:bodyPr/>
          <a:lstStyle/>
          <a:p>
            <a:r>
              <a:rPr lang="en-US" dirty="0" err="1"/>
              <a:t>Comparision</a:t>
            </a:r>
            <a:endParaRPr lang="en-IN" dirty="0"/>
          </a:p>
        </p:txBody>
      </p:sp>
      <p:graphicFrame>
        <p:nvGraphicFramePr>
          <p:cNvPr id="4" name="Content Placeholder 3">
            <a:extLst>
              <a:ext uri="{FF2B5EF4-FFF2-40B4-BE49-F238E27FC236}">
                <a16:creationId xmlns:a16="http://schemas.microsoft.com/office/drawing/2014/main" id="{91EB61DD-4D09-81AE-68D2-5E025639B104}"/>
              </a:ext>
            </a:extLst>
          </p:cNvPr>
          <p:cNvGraphicFramePr>
            <a:graphicFrameLocks noGrp="1"/>
          </p:cNvGraphicFramePr>
          <p:nvPr>
            <p:ph idx="1"/>
            <p:extLst>
              <p:ext uri="{D42A27DB-BD31-4B8C-83A1-F6EECF244321}">
                <p14:modId xmlns:p14="http://schemas.microsoft.com/office/powerpoint/2010/main" val="1199653757"/>
              </p:ext>
            </p:extLst>
          </p:nvPr>
        </p:nvGraphicFramePr>
        <p:xfrm>
          <a:off x="1295396" y="2782147"/>
          <a:ext cx="9601200" cy="1463040"/>
        </p:xfrm>
        <a:graphic>
          <a:graphicData uri="http://schemas.openxmlformats.org/drawingml/2006/table">
            <a:tbl>
              <a:tblPr/>
              <a:tblGrid>
                <a:gridCol w="3200400">
                  <a:extLst>
                    <a:ext uri="{9D8B030D-6E8A-4147-A177-3AD203B41FA5}">
                      <a16:colId xmlns:a16="http://schemas.microsoft.com/office/drawing/2014/main" val="1320098015"/>
                    </a:ext>
                  </a:extLst>
                </a:gridCol>
                <a:gridCol w="3200400">
                  <a:extLst>
                    <a:ext uri="{9D8B030D-6E8A-4147-A177-3AD203B41FA5}">
                      <a16:colId xmlns:a16="http://schemas.microsoft.com/office/drawing/2014/main" val="891608971"/>
                    </a:ext>
                  </a:extLst>
                </a:gridCol>
                <a:gridCol w="3200400">
                  <a:extLst>
                    <a:ext uri="{9D8B030D-6E8A-4147-A177-3AD203B41FA5}">
                      <a16:colId xmlns:a16="http://schemas.microsoft.com/office/drawing/2014/main" val="1068603996"/>
                    </a:ext>
                  </a:extLst>
                </a:gridCol>
              </a:tblGrid>
              <a:tr h="0">
                <a:tc>
                  <a:txBody>
                    <a:bodyPr/>
                    <a:lstStyle/>
                    <a:p>
                      <a:pPr>
                        <a:buNone/>
                      </a:pPr>
                      <a:r>
                        <a:rPr lang="en-IN"/>
                        <a:t>Tool</a:t>
                      </a:r>
                    </a:p>
                  </a:txBody>
                  <a:tcPr anchor="ctr">
                    <a:lnL>
                      <a:noFill/>
                    </a:lnL>
                    <a:lnR>
                      <a:noFill/>
                    </a:lnR>
                    <a:lnT>
                      <a:noFill/>
                    </a:lnT>
                    <a:lnB>
                      <a:noFill/>
                    </a:lnB>
                    <a:noFill/>
                  </a:tcPr>
                </a:tc>
                <a:tc>
                  <a:txBody>
                    <a:bodyPr/>
                    <a:lstStyle/>
                    <a:p>
                      <a:pPr>
                        <a:buNone/>
                      </a:pPr>
                      <a:r>
                        <a:rPr lang="en-IN"/>
                        <a:t>Used For</a:t>
                      </a:r>
                    </a:p>
                  </a:txBody>
                  <a:tcPr anchor="ctr">
                    <a:lnL>
                      <a:noFill/>
                    </a:lnL>
                    <a:lnR>
                      <a:noFill/>
                    </a:lnR>
                    <a:lnT>
                      <a:noFill/>
                    </a:lnT>
                    <a:lnB>
                      <a:noFill/>
                    </a:lnB>
                    <a:noFill/>
                  </a:tcPr>
                </a:tc>
                <a:tc>
                  <a:txBody>
                    <a:bodyPr/>
                    <a:lstStyle/>
                    <a:p>
                      <a:pPr>
                        <a:buNone/>
                      </a:pPr>
                      <a:r>
                        <a:rPr lang="en-IN"/>
                        <a:t>Benefits</a:t>
                      </a:r>
                    </a:p>
                  </a:txBody>
                  <a:tcPr anchor="ctr">
                    <a:lnL>
                      <a:noFill/>
                    </a:lnL>
                    <a:lnR>
                      <a:noFill/>
                    </a:lnR>
                    <a:lnT>
                      <a:noFill/>
                    </a:lnT>
                    <a:lnB>
                      <a:noFill/>
                    </a:lnB>
                    <a:noFill/>
                  </a:tcPr>
                </a:tc>
                <a:extLst>
                  <a:ext uri="{0D108BD9-81ED-4DB2-BD59-A6C34878D82A}">
                    <a16:rowId xmlns:a16="http://schemas.microsoft.com/office/drawing/2014/main" val="3850469892"/>
                  </a:ext>
                </a:extLst>
              </a:tr>
              <a:tr h="0">
                <a:tc>
                  <a:txBody>
                    <a:bodyPr/>
                    <a:lstStyle/>
                    <a:p>
                      <a:pPr>
                        <a:buNone/>
                      </a:pPr>
                      <a:r>
                        <a:rPr lang="en-IN" dirty="0"/>
                        <a:t>ChatGPT</a:t>
                      </a:r>
                    </a:p>
                  </a:txBody>
                  <a:tcPr anchor="ctr">
                    <a:lnL>
                      <a:noFill/>
                    </a:lnL>
                    <a:lnR>
                      <a:noFill/>
                    </a:lnR>
                    <a:lnT>
                      <a:noFill/>
                    </a:lnT>
                    <a:lnB>
                      <a:noFill/>
                    </a:lnB>
                    <a:noFill/>
                  </a:tcPr>
                </a:tc>
                <a:tc>
                  <a:txBody>
                    <a:bodyPr/>
                    <a:lstStyle/>
                    <a:p>
                      <a:pPr>
                        <a:buNone/>
                      </a:pPr>
                      <a:r>
                        <a:rPr lang="en-IN"/>
                        <a:t>Query Response, NLP</a:t>
                      </a:r>
                    </a:p>
                  </a:txBody>
                  <a:tcPr anchor="ctr">
                    <a:lnL>
                      <a:noFill/>
                    </a:lnL>
                    <a:lnR>
                      <a:noFill/>
                    </a:lnR>
                    <a:lnT>
                      <a:noFill/>
                    </a:lnT>
                    <a:lnB>
                      <a:noFill/>
                    </a:lnB>
                    <a:noFill/>
                  </a:tcPr>
                </a:tc>
                <a:tc>
                  <a:txBody>
                    <a:bodyPr/>
                    <a:lstStyle/>
                    <a:p>
                      <a:pPr>
                        <a:buNone/>
                      </a:pPr>
                      <a:r>
                        <a:rPr lang="en-IN"/>
                        <a:t>Highly accurate, conversational</a:t>
                      </a:r>
                    </a:p>
                  </a:txBody>
                  <a:tcPr anchor="ctr">
                    <a:lnL>
                      <a:noFill/>
                    </a:lnL>
                    <a:lnR>
                      <a:noFill/>
                    </a:lnR>
                    <a:lnT>
                      <a:noFill/>
                    </a:lnT>
                    <a:lnB>
                      <a:noFill/>
                    </a:lnB>
                    <a:noFill/>
                  </a:tcPr>
                </a:tc>
                <a:extLst>
                  <a:ext uri="{0D108BD9-81ED-4DB2-BD59-A6C34878D82A}">
                    <a16:rowId xmlns:a16="http://schemas.microsoft.com/office/drawing/2014/main" val="274772011"/>
                  </a:ext>
                </a:extLst>
              </a:tr>
              <a:tr h="0">
                <a:tc>
                  <a:txBody>
                    <a:bodyPr/>
                    <a:lstStyle/>
                    <a:p>
                      <a:pPr>
                        <a:buNone/>
                      </a:pPr>
                      <a:r>
                        <a:rPr lang="en-IN"/>
                        <a:t>Perplexity</a:t>
                      </a:r>
                    </a:p>
                  </a:txBody>
                  <a:tcPr anchor="ctr">
                    <a:lnL>
                      <a:noFill/>
                    </a:lnL>
                    <a:lnR>
                      <a:noFill/>
                    </a:lnR>
                    <a:lnT>
                      <a:noFill/>
                    </a:lnT>
                    <a:lnB>
                      <a:noFill/>
                    </a:lnB>
                    <a:noFill/>
                  </a:tcPr>
                </a:tc>
                <a:tc>
                  <a:txBody>
                    <a:bodyPr/>
                    <a:lstStyle/>
                    <a:p>
                      <a:pPr>
                        <a:buNone/>
                      </a:pPr>
                      <a:r>
                        <a:rPr lang="en-IN"/>
                        <a:t>Web-integrated knowledge</a:t>
                      </a:r>
                    </a:p>
                  </a:txBody>
                  <a:tcPr anchor="ctr">
                    <a:lnL>
                      <a:noFill/>
                    </a:lnL>
                    <a:lnR>
                      <a:noFill/>
                    </a:lnR>
                    <a:lnT>
                      <a:noFill/>
                    </a:lnT>
                    <a:lnB>
                      <a:noFill/>
                    </a:lnB>
                    <a:noFill/>
                  </a:tcPr>
                </a:tc>
                <a:tc>
                  <a:txBody>
                    <a:bodyPr/>
                    <a:lstStyle/>
                    <a:p>
                      <a:pPr>
                        <a:buNone/>
                      </a:pPr>
                      <a:r>
                        <a:rPr lang="en-IN"/>
                        <a:t>Reliable + cited answers</a:t>
                      </a:r>
                    </a:p>
                  </a:txBody>
                  <a:tcPr anchor="ctr">
                    <a:lnL>
                      <a:noFill/>
                    </a:lnL>
                    <a:lnR>
                      <a:noFill/>
                    </a:lnR>
                    <a:lnT>
                      <a:noFill/>
                    </a:lnT>
                    <a:lnB>
                      <a:noFill/>
                    </a:lnB>
                    <a:noFill/>
                  </a:tcPr>
                </a:tc>
                <a:extLst>
                  <a:ext uri="{0D108BD9-81ED-4DB2-BD59-A6C34878D82A}">
                    <a16:rowId xmlns:a16="http://schemas.microsoft.com/office/drawing/2014/main" val="4058855145"/>
                  </a:ext>
                </a:extLst>
              </a:tr>
              <a:tr h="0">
                <a:tc>
                  <a:txBody>
                    <a:bodyPr/>
                    <a:lstStyle/>
                    <a:p>
                      <a:pPr>
                        <a:buNone/>
                      </a:pPr>
                      <a:r>
                        <a:rPr lang="en-IN"/>
                        <a:t>Auto Tutor</a:t>
                      </a:r>
                    </a:p>
                  </a:txBody>
                  <a:tcPr anchor="ctr">
                    <a:lnL>
                      <a:noFill/>
                    </a:lnL>
                    <a:lnR>
                      <a:noFill/>
                    </a:lnR>
                    <a:lnT>
                      <a:noFill/>
                    </a:lnT>
                    <a:lnB>
                      <a:noFill/>
                    </a:lnB>
                    <a:noFill/>
                  </a:tcPr>
                </a:tc>
                <a:tc>
                  <a:txBody>
                    <a:bodyPr/>
                    <a:lstStyle/>
                    <a:p>
                      <a:pPr>
                        <a:buNone/>
                      </a:pPr>
                      <a:r>
                        <a:rPr lang="en-IN"/>
                        <a:t>Student-focused learning</a:t>
                      </a:r>
                    </a:p>
                  </a:txBody>
                  <a:tcPr anchor="ctr">
                    <a:lnL>
                      <a:noFill/>
                    </a:lnL>
                    <a:lnR>
                      <a:noFill/>
                    </a:lnR>
                    <a:lnT>
                      <a:noFill/>
                    </a:lnT>
                    <a:lnB>
                      <a:noFill/>
                    </a:lnB>
                    <a:noFill/>
                  </a:tcPr>
                </a:tc>
                <a:tc>
                  <a:txBody>
                    <a:bodyPr/>
                    <a:lstStyle/>
                    <a:p>
                      <a:pPr>
                        <a:buNone/>
                      </a:pPr>
                      <a:r>
                        <a:rPr lang="en-IN" dirty="0"/>
                        <a:t>Tailored academic guidance</a:t>
                      </a:r>
                    </a:p>
                  </a:txBody>
                  <a:tcPr anchor="ctr">
                    <a:lnL>
                      <a:noFill/>
                    </a:lnL>
                    <a:lnR>
                      <a:noFill/>
                    </a:lnR>
                    <a:lnT>
                      <a:noFill/>
                    </a:lnT>
                    <a:lnB>
                      <a:noFill/>
                    </a:lnB>
                    <a:noFill/>
                  </a:tcPr>
                </a:tc>
                <a:extLst>
                  <a:ext uri="{0D108BD9-81ED-4DB2-BD59-A6C34878D82A}">
                    <a16:rowId xmlns:a16="http://schemas.microsoft.com/office/drawing/2014/main" val="3682594642"/>
                  </a:ext>
                </a:extLst>
              </a:tr>
            </a:tbl>
          </a:graphicData>
        </a:graphic>
      </p:graphicFrame>
    </p:spTree>
    <p:extLst>
      <p:ext uri="{BB962C8B-B14F-4D97-AF65-F5344CB8AC3E}">
        <p14:creationId xmlns:p14="http://schemas.microsoft.com/office/powerpoint/2010/main" val="2119270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FE54F-EE6A-60E4-E0C7-9D1628BC9586}"/>
              </a:ext>
            </a:extLst>
          </p:cNvPr>
          <p:cNvSpPr>
            <a:spLocks noGrp="1"/>
          </p:cNvSpPr>
          <p:nvPr>
            <p:ph type="title"/>
          </p:nvPr>
        </p:nvSpPr>
        <p:spPr/>
        <p:txBody>
          <a:bodyPr/>
          <a:lstStyle/>
          <a:p>
            <a:r>
              <a:rPr lang="en-IN" dirty="0"/>
              <a:t>Advantages</a:t>
            </a:r>
          </a:p>
        </p:txBody>
      </p:sp>
      <p:sp>
        <p:nvSpPr>
          <p:cNvPr id="4" name="Rectangle 1">
            <a:extLst>
              <a:ext uri="{FF2B5EF4-FFF2-40B4-BE49-F238E27FC236}">
                <a16:creationId xmlns:a16="http://schemas.microsoft.com/office/drawing/2014/main" id="{A8DA5593-204C-5BA7-0DCC-FEC62B1FA982}"/>
              </a:ext>
            </a:extLst>
          </p:cNvPr>
          <p:cNvSpPr>
            <a:spLocks noGrp="1" noChangeArrowheads="1"/>
          </p:cNvSpPr>
          <p:nvPr>
            <p:ph idx="1"/>
          </p:nvPr>
        </p:nvSpPr>
        <p:spPr bwMode="auto">
          <a:xfrm>
            <a:off x="1464735" y="2633010"/>
            <a:ext cx="503426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Enhances self-learning capability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Immediate doubt solving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Reduces dependency on instructors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Increases subject understanding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Saves time for both students &amp; teachers</a:t>
            </a:r>
          </a:p>
        </p:txBody>
      </p:sp>
    </p:spTree>
    <p:extLst>
      <p:ext uri="{BB962C8B-B14F-4D97-AF65-F5344CB8AC3E}">
        <p14:creationId xmlns:p14="http://schemas.microsoft.com/office/powerpoint/2010/main" val="3311088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7E2C2-62C0-6428-29DA-B28D57C4F5A2}"/>
              </a:ext>
            </a:extLst>
          </p:cNvPr>
          <p:cNvSpPr>
            <a:spLocks noGrp="1"/>
          </p:cNvSpPr>
          <p:nvPr>
            <p:ph type="title"/>
          </p:nvPr>
        </p:nvSpPr>
        <p:spPr/>
        <p:txBody>
          <a:bodyPr/>
          <a:lstStyle/>
          <a:p>
            <a:r>
              <a:rPr lang="en-US" dirty="0"/>
              <a:t>Results and Future Scope</a:t>
            </a:r>
            <a:endParaRPr lang="en-IN" dirty="0"/>
          </a:p>
        </p:txBody>
      </p:sp>
      <p:sp>
        <p:nvSpPr>
          <p:cNvPr id="3" name="Content Placeholder 2">
            <a:extLst>
              <a:ext uri="{FF2B5EF4-FFF2-40B4-BE49-F238E27FC236}">
                <a16:creationId xmlns:a16="http://schemas.microsoft.com/office/drawing/2014/main" id="{EC2346C0-2507-2F74-7D97-D5DE7BA7D520}"/>
              </a:ext>
            </a:extLst>
          </p:cNvPr>
          <p:cNvSpPr>
            <a:spLocks noGrp="1"/>
          </p:cNvSpPr>
          <p:nvPr>
            <p:ph idx="1"/>
          </p:nvPr>
        </p:nvSpPr>
        <p:spPr>
          <a:xfrm>
            <a:off x="1295401" y="2556932"/>
            <a:ext cx="9601196" cy="1651001"/>
          </a:xfrm>
        </p:spPr>
        <p:txBody>
          <a:bodyPr>
            <a:normAutofit fontScale="62500" lnSpcReduction="20000"/>
          </a:bodyPr>
          <a:lstStyle/>
          <a:p>
            <a:r>
              <a:rPr lang="en-US" dirty="0"/>
              <a:t>Auto Tutor successfully delivers:</a:t>
            </a:r>
          </a:p>
          <a:p>
            <a:r>
              <a:rPr lang="en-US" dirty="0"/>
              <a:t>Quick answers</a:t>
            </a:r>
          </a:p>
          <a:p>
            <a:r>
              <a:rPr lang="en-US" dirty="0"/>
              <a:t>Better student engagement</a:t>
            </a:r>
          </a:p>
          <a:p>
            <a:r>
              <a:rPr lang="en-US" dirty="0"/>
              <a:t>Accurate clarification to academic doubts</a:t>
            </a:r>
          </a:p>
          <a:p>
            <a:r>
              <a:rPr lang="en-US" dirty="0"/>
              <a:t>Adaptive learning suggestions</a:t>
            </a:r>
          </a:p>
          <a:p>
            <a:endParaRPr lang="en-IN" dirty="0"/>
          </a:p>
        </p:txBody>
      </p:sp>
      <p:sp>
        <p:nvSpPr>
          <p:cNvPr id="6" name="Rectangle 3">
            <a:extLst>
              <a:ext uri="{FF2B5EF4-FFF2-40B4-BE49-F238E27FC236}">
                <a16:creationId xmlns:a16="http://schemas.microsoft.com/office/drawing/2014/main" id="{E6F22271-B0EA-72B2-B0B8-3E71AA6D26E2}"/>
              </a:ext>
            </a:extLst>
          </p:cNvPr>
          <p:cNvSpPr>
            <a:spLocks noChangeArrowheads="1"/>
          </p:cNvSpPr>
          <p:nvPr/>
        </p:nvSpPr>
        <p:spPr bwMode="auto">
          <a:xfrm rot="10800000" flipV="1">
            <a:off x="5740398" y="2362960"/>
            <a:ext cx="4495801" cy="1904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mj-lt"/>
              </a:rPr>
              <a:t>Voice-based tutoring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mj-lt"/>
              </a:rPr>
              <a:t>Support for regional languages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mj-lt"/>
              </a:rPr>
              <a:t>Integration with online learning platforms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mj-lt"/>
              </a:rPr>
              <a:t>Performance analytics for students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mj-lt"/>
              </a:rPr>
              <a:t>AI-based test generation</a:t>
            </a:r>
          </a:p>
        </p:txBody>
      </p:sp>
    </p:spTree>
    <p:extLst>
      <p:ext uri="{BB962C8B-B14F-4D97-AF65-F5344CB8AC3E}">
        <p14:creationId xmlns:p14="http://schemas.microsoft.com/office/powerpoint/2010/main" val="1608218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7C18-A19C-CD93-7DEC-D406EF4F1D03}"/>
              </a:ext>
            </a:extLst>
          </p:cNvPr>
          <p:cNvSpPr>
            <a:spLocks noGrp="1"/>
          </p:cNvSpPr>
          <p:nvPr>
            <p:ph type="title"/>
          </p:nvPr>
        </p:nvSpPr>
        <p:spPr/>
        <p:txBody>
          <a:bodyPr/>
          <a:lstStyle/>
          <a:p>
            <a:r>
              <a:rPr lang="en-US" dirty="0"/>
              <a:t>Applications</a:t>
            </a:r>
            <a:endParaRPr lang="en-IN" dirty="0"/>
          </a:p>
        </p:txBody>
      </p:sp>
      <p:sp>
        <p:nvSpPr>
          <p:cNvPr id="3" name="Content Placeholder 2">
            <a:extLst>
              <a:ext uri="{FF2B5EF4-FFF2-40B4-BE49-F238E27FC236}">
                <a16:creationId xmlns:a16="http://schemas.microsoft.com/office/drawing/2014/main" id="{2CBA8CE8-05FF-7329-25BF-A0099CC84F06}"/>
              </a:ext>
            </a:extLst>
          </p:cNvPr>
          <p:cNvSpPr>
            <a:spLocks noGrp="1"/>
          </p:cNvSpPr>
          <p:nvPr>
            <p:ph idx="1"/>
          </p:nvPr>
        </p:nvSpPr>
        <p:spPr/>
        <p:txBody>
          <a:bodyPr/>
          <a:lstStyle/>
          <a:p>
            <a:r>
              <a:rPr lang="en-US" dirty="0"/>
              <a:t>Personal learning</a:t>
            </a:r>
          </a:p>
          <a:p>
            <a:r>
              <a:rPr lang="en-US" dirty="0"/>
              <a:t>Colleges &amp; Universities</a:t>
            </a:r>
          </a:p>
          <a:p>
            <a:r>
              <a:rPr lang="en-US" dirty="0"/>
              <a:t>E-learning platforms</a:t>
            </a:r>
          </a:p>
          <a:p>
            <a:r>
              <a:rPr lang="en-US" dirty="0"/>
              <a:t>Coaching centers</a:t>
            </a:r>
          </a:p>
          <a:p>
            <a:r>
              <a:rPr lang="en-US" dirty="0"/>
              <a:t>School computer labs</a:t>
            </a:r>
          </a:p>
          <a:p>
            <a:r>
              <a:rPr lang="en-US" dirty="0"/>
              <a:t>Remote learning</a:t>
            </a:r>
          </a:p>
          <a:p>
            <a:endParaRPr lang="en-IN" dirty="0"/>
          </a:p>
        </p:txBody>
      </p:sp>
    </p:spTree>
    <p:extLst>
      <p:ext uri="{BB962C8B-B14F-4D97-AF65-F5344CB8AC3E}">
        <p14:creationId xmlns:p14="http://schemas.microsoft.com/office/powerpoint/2010/main" val="1341936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9CA5-8CC3-889E-515D-71E3C123372C}"/>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E3B1BCA0-20E7-2397-AD01-1112072CA7F4}"/>
              </a:ext>
            </a:extLst>
          </p:cNvPr>
          <p:cNvSpPr>
            <a:spLocks noGrp="1"/>
          </p:cNvSpPr>
          <p:nvPr>
            <p:ph idx="1"/>
          </p:nvPr>
        </p:nvSpPr>
        <p:spPr/>
        <p:txBody>
          <a:bodyPr/>
          <a:lstStyle/>
          <a:p>
            <a:pPr marL="457200" lvl="1" indent="0">
              <a:buNone/>
            </a:pPr>
            <a:r>
              <a:rPr lang="en-US" dirty="0"/>
              <a:t>	Auto Tutor proves to be a transformative AI-based learning solution that assists students with instant, accurate, and personalized guidance. It enhances the overall learning experience by simplifying complex concepts through intelligent explanations. With continuous availability and adaptive responses, it supports self-paced learning and boosts student confidence. By reducing dependency on teachers for frequent clarification, it empowers learners to explore and grow independently. This system demonstrates how AI can significantly improve educational accessibility and academic success.</a:t>
            </a:r>
            <a:endParaRPr lang="en-IN" dirty="0"/>
          </a:p>
        </p:txBody>
      </p:sp>
    </p:spTree>
    <p:extLst>
      <p:ext uri="{BB962C8B-B14F-4D97-AF65-F5344CB8AC3E}">
        <p14:creationId xmlns:p14="http://schemas.microsoft.com/office/powerpoint/2010/main" val="280626322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19</TotalTime>
  <Words>472</Words>
  <Application>Microsoft Office PowerPoint</Application>
  <PresentationFormat>Widescreen</PresentationFormat>
  <Paragraphs>94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Garamond</vt:lpstr>
      <vt:lpstr>Times New Roman</vt:lpstr>
      <vt:lpstr>Organic</vt:lpstr>
      <vt:lpstr>Title: Auto Tutor</vt:lpstr>
      <vt:lpstr>Introduction</vt:lpstr>
      <vt:lpstr>Problem Statement</vt:lpstr>
      <vt:lpstr>Aim of the Project</vt:lpstr>
      <vt:lpstr>Objectives</vt:lpstr>
      <vt:lpstr>Technologies Used</vt:lpstr>
      <vt:lpstr>Key Features</vt:lpstr>
      <vt:lpstr>Workflow</vt:lpstr>
      <vt:lpstr>Comparision</vt:lpstr>
      <vt:lpstr>Advantages</vt:lpstr>
      <vt:lpstr>Results and Future Scope</vt:lpstr>
      <vt:lpstr>Applications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Golla Narasimha</dc:creator>
  <cp:lastModifiedBy>Golla Narasimha</cp:lastModifiedBy>
  <cp:revision>1</cp:revision>
  <dcterms:created xsi:type="dcterms:W3CDTF">2025-12-06T16:59:03Z</dcterms:created>
  <dcterms:modified xsi:type="dcterms:W3CDTF">2025-12-06T17:18:23Z</dcterms:modified>
</cp:coreProperties>
</file>